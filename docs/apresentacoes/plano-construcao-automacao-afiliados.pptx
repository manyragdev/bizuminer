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decisão de construir está tomada. Esta apresentação trata de COMO: arquitetura, sequenciamento e divisão de trabalho.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Quatro módulos. O que diferencia dos concorrentes está no primeiro: histórico de preço e desconto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Reenquadramento: 11 concorrentes num mercado de 30 milhões de participantes indica categoria validada e fragmentada. Cada um resolve um pedaço — nenhum cobre o ciclo inteiro com curadoria verificada.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três frentes vieram da análise dos concorrentes. A vantagem de largada é o que nenhum deles teve: acesso a uma operação madura desde o dia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ponto central é a fila: ela isola a captura do disparo, permite retentativa com backoff e limita a taxa por domínio. Cada worker escala de forma independente.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stack é a do documento original, com dois ajustes: Node LTS em vez de Bun e Fastify em vez de Express. Justificativa no próximo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primeira é a mais importante: a trava da PA-API é externa e não negociável. Precisamos começar as 3 vendas qualificadas da Amazon já, em paralelo ao desenvolvimento, porque leva tempo.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Quatro decisões de fundação. Nenhuma delas custa tempo relevante agora; todas custam reescrita se ficarem para depois.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Sete semanas assumem dedicação alta da dupla técnica. Em tempo parcial, o número honesto é 12 a 16 semanas — vale acordar isso agora.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pendência societária é a única que fica difícil de resolver depois — quando o produto começar a valer dinheiro, a conversa muda de tom.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risco de ban é o principal gerador de suporte em qualquer produto dessa categoria. Direcionar para Canais precisa ser o padrão da UI, não uma nota na documentação.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Travar lojas frustra o cliente e não reflete custo. Os concorrentes cobram o WhatsApp à parte justamente porque é o item caro: R$100 a R$150 por sessão.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Quatro ações concretas. Duas delas — vendas qualificadas da Amazon e acordo societário — têm prazo longo e não dependem de desenvolvimento, então começam agora.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CONSTRUÇÃO  ·  JULHO DE 2026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640080" y="1325880"/>
            <a:ext cx="457200" cy="45720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10312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Plataforma de automação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ofertas para afiliados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02336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C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Arquitetura, stack e roadmap de execução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5943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interno · alinhamento entre sócios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PRODUTO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vamos construir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536192"/>
            <a:ext cx="103628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5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central que cobre o ciclo completo: da detecção da oferta até a mensagem publicada com link afiliado.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5440680" cy="1554480"/>
          </a:xfrm>
          <a:prstGeom prst="roundRect">
            <a:avLst>
              <a:gd name="adj" fmla="val 4706"/>
            </a:avLst>
          </a:prstGeom>
          <a:solidFill>
            <a:srgbClr val="F4F4F2"/>
          </a:solidFill>
          <a:ln/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05840" y="2606040"/>
            <a:ext cx="384048" cy="384048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606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600200" y="257860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Garimpo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00200" y="3035808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contínua de ofertas, histórico de preço por SKU e cálculo de desconto real.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55080" y="2286000"/>
            <a:ext cx="5440680" cy="1554480"/>
          </a:xfrm>
          <a:prstGeom prst="roundRect">
            <a:avLst>
              <a:gd name="adj" fmla="val 4706"/>
            </a:avLst>
          </a:prstGeom>
          <a:solidFill>
            <a:srgbClr val="F4F4F2"/>
          </a:solidFill>
          <a:ln/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720840" y="2606040"/>
            <a:ext cx="384048" cy="384048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12" name="Text 10"/>
          <p:cNvSpPr/>
          <p:nvPr/>
        </p:nvSpPr>
        <p:spPr>
          <a:xfrm>
            <a:off x="6720840" y="2606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0" y="257860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Afiliação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15200" y="3035808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Conversão automática de URL com a tag do próprio cliente e cofre de credenciais.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4114800"/>
            <a:ext cx="5440680" cy="1554480"/>
          </a:xfrm>
          <a:prstGeom prst="roundRect">
            <a:avLst>
              <a:gd name="adj" fmla="val 4706"/>
            </a:avLst>
          </a:prstGeom>
          <a:solidFill>
            <a:srgbClr val="F4F4F2"/>
          </a:solidFill>
          <a:ln/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005840" y="4434840"/>
            <a:ext cx="384048" cy="384048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4434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600200" y="440740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Disparo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600200" y="4864608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Curadoria em 1 clique e piloto automático com filtros, delays e spintax.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355080" y="4114800"/>
            <a:ext cx="5440680" cy="1554480"/>
          </a:xfrm>
          <a:prstGeom prst="roundRect">
            <a:avLst>
              <a:gd name="adj" fmla="val 4706"/>
            </a:avLst>
          </a:prstGeom>
          <a:solidFill>
            <a:srgbClr val="F4F4F2"/>
          </a:solidFill>
          <a:ln/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20840" y="4434840"/>
            <a:ext cx="384048" cy="384048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22" name="Text 20"/>
          <p:cNvSpPr/>
          <p:nvPr/>
        </p:nvSpPr>
        <p:spPr>
          <a:xfrm>
            <a:off x="6720840" y="4434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315200" y="440740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Conexões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315200" y="4864608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Pareamento de WhatsApp via QR Code e gestão de bots do Telegram.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40080" y="60350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B2B: o cliente traz as próprias chaves de afiliado e mantém 100% da comissão.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Mercado validado e fragmentado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536192"/>
            <a:ext cx="103628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5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Onze players ativos, nenhum dominante. Para quem entra, isso é informação — não barreira.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3611880" cy="2011680"/>
          </a:xfrm>
          <a:prstGeom prst="roundRect">
            <a:avLst>
              <a:gd name="adj" fmla="val 3636"/>
            </a:avLst>
          </a:prstGeom>
          <a:solidFill>
            <a:srgbClr val="F4F4F2"/>
          </a:solidFill>
          <a:ln/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487168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mi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960120" y="32461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participantes no marketing de afiliados no Brasil, crescendo 8% ao ano.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26280" y="2286000"/>
            <a:ext cx="3611880" cy="2011680"/>
          </a:xfrm>
          <a:prstGeom prst="roundRect">
            <a:avLst>
              <a:gd name="adj" fmla="val 3636"/>
            </a:avLst>
          </a:prstGeom>
          <a:solidFill>
            <a:srgbClr val="F4F4F2"/>
          </a:solidFill>
          <a:ln/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0" y="2487168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R$ 37–297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846320" y="32461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faixa consolidada de preço. O mercado já provou que paga.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412480" y="2286000"/>
            <a:ext cx="3611880" cy="2011680"/>
          </a:xfrm>
          <a:prstGeom prst="roundRect">
            <a:avLst>
              <a:gd name="adj" fmla="val 3636"/>
            </a:avLst>
          </a:prstGeom>
          <a:solidFill>
            <a:srgbClr val="F4F4F2"/>
          </a:solidFill>
          <a:ln/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732520" y="2487168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59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8732520" y="32461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 cobrindo o ciclo completo com curadoria própria verificada.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572000"/>
            <a:ext cx="10911535" cy="1417320"/>
          </a:xfrm>
          <a:prstGeom prst="roundRect">
            <a:avLst>
              <a:gd name="adj" fmla="val 5161"/>
            </a:avLst>
          </a:prstGeom>
          <a:solidFill>
            <a:srgbClr val="1A1A1E"/>
          </a:solidFill>
          <a:ln/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051560" y="47548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os concorrentes nos entregam de graça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1560" y="5138928"/>
            <a:ext cx="100885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lista do que é obrigatório (captura, tag própria, anti-ban, encurtador, dedupe), a faixa de preço que o mercado aceita, e o canal de aquisição que funciona no nicho: criadores de conteúdo e SEO, não outbound.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POSICIONAMENTO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onde entramos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536192"/>
            <a:ext cx="103628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5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frentes onde o mercado atual não entrega — e uma vantagem que nenhum concorrente teve na largada.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3611880" cy="2514600"/>
          </a:xfrm>
          <a:prstGeom prst="roundRect">
            <a:avLst>
              <a:gd name="adj" fmla="val 2909"/>
            </a:avLst>
          </a:prstGeom>
          <a:solidFill>
            <a:srgbClr val="F4F4F2"/>
          </a:solidFill>
          <a:ln/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05840" y="2560320"/>
            <a:ext cx="384048" cy="384048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560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31089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Desconto verificado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356616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de preço por SKU para provar que o desconto é real. Nenhum concorrente faz isso hoje — e é o que protege a credibilidade do canal do cliente.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26280" y="2286000"/>
            <a:ext cx="3611880" cy="2514600"/>
          </a:xfrm>
          <a:prstGeom prst="roundRect">
            <a:avLst>
              <a:gd name="adj" fmla="val 2909"/>
            </a:avLst>
          </a:prstGeom>
          <a:solidFill>
            <a:srgbClr val="F4F4F2"/>
          </a:solidFill>
          <a:ln/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92040" y="2560320"/>
            <a:ext cx="384048" cy="384048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2560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92040" y="31089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Curadoria própria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92040" y="356616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maioria espelha os mesmos grupos-fonte, saturando os canais com ofertas repetidas. Captura direta na origem gera feed exclusivo.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12480" y="2286000"/>
            <a:ext cx="3611880" cy="2514600"/>
          </a:xfrm>
          <a:prstGeom prst="roundRect">
            <a:avLst>
              <a:gd name="adj" fmla="val 2909"/>
            </a:avLst>
          </a:prstGeom>
          <a:solidFill>
            <a:srgbClr val="F4F4F2"/>
          </a:solidFill>
          <a:ln/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778240" y="2560320"/>
            <a:ext cx="384048" cy="384048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17" name="Text 15"/>
          <p:cNvSpPr/>
          <p:nvPr/>
        </p:nvSpPr>
        <p:spPr>
          <a:xfrm>
            <a:off x="8778240" y="2560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778240" y="31089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Produto para agência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778240" y="356616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Multi-tenancy e white-label para quem opera vários afiliados. Ticket maior e espaço desocupado.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5074920"/>
            <a:ext cx="10911535" cy="1005840"/>
          </a:xfrm>
          <a:prstGeom prst="roundRect">
            <a:avLst>
              <a:gd name="adj" fmla="val 7273"/>
            </a:avLst>
          </a:prstGeom>
          <a:solidFill>
            <a:srgbClr val="1A1A1E"/>
          </a:solidFill>
          <a:ln/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051560" y="5074920"/>
            <a:ext cx="100885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Nossa vantagem de largada: uma rede de afiliados real validando desde a primeira versão. Feedback semanal de quem opera, com comissão medida antes e depois.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o sistema se organiza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536192"/>
            <a:ext cx="103628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5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Microserviços desacoplados em Docker, comunicando por fila. Escala horizontal por worker.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2926080" cy="868680"/>
          </a:xfrm>
          <a:prstGeom prst="roundRect">
            <a:avLst>
              <a:gd name="adj" fmla="val 6316"/>
            </a:avLst>
          </a:prstGeom>
          <a:solidFill>
            <a:srgbClr val="F4F4F2"/>
          </a:solidFill>
          <a:ln w="12700">
            <a:solidFill>
              <a:srgbClr val="DEDE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50545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Web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77240" y="281635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5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· Next.js · TypeScript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0" y="2697480"/>
            <a:ext cx="320040" cy="228600"/>
          </a:xfrm>
          <a:prstGeom prst="rightArrow">
            <a:avLst/>
          </a:prstGeom>
          <a:solidFill>
            <a:srgbClr val="E8590C"/>
          </a:solidFill>
          <a:ln/>
        </p:spPr>
      </p:sp>
      <p:sp>
        <p:nvSpPr>
          <p:cNvPr id="9" name="Shape 7"/>
          <p:cNvSpPr/>
          <p:nvPr/>
        </p:nvSpPr>
        <p:spPr>
          <a:xfrm>
            <a:off x="4069080" y="2377440"/>
            <a:ext cx="2926080" cy="868680"/>
          </a:xfrm>
          <a:prstGeom prst="roundRect">
            <a:avLst>
              <a:gd name="adj" fmla="val 6316"/>
            </a:avLst>
          </a:prstGeom>
          <a:solidFill>
            <a:srgbClr val="F4F4F2"/>
          </a:solidFill>
          <a:ln w="12700">
            <a:solidFill>
              <a:srgbClr val="DEDE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0" y="250545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Server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206240" y="281635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5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· Fastify · JWT + RBAC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132320" y="2697480"/>
            <a:ext cx="320040" cy="228600"/>
          </a:xfrm>
          <a:prstGeom prst="rightArrow">
            <a:avLst/>
          </a:prstGeom>
          <a:solidFill>
            <a:srgbClr val="E8590C"/>
          </a:solidFill>
          <a:ln/>
        </p:spPr>
      </p:sp>
      <p:sp>
        <p:nvSpPr>
          <p:cNvPr id="13" name="Shape 11"/>
          <p:cNvSpPr/>
          <p:nvPr/>
        </p:nvSpPr>
        <p:spPr>
          <a:xfrm>
            <a:off x="7543800" y="2377440"/>
            <a:ext cx="2926080" cy="868680"/>
          </a:xfrm>
          <a:prstGeom prst="roundRect">
            <a:avLst>
              <a:gd name="adj" fmla="val 6316"/>
            </a:avLst>
          </a:prstGeom>
          <a:solidFill>
            <a:srgbClr val="1A1A1E"/>
          </a:solidFill>
          <a:ln w="12700">
            <a:solidFill>
              <a:srgbClr val="1A1A1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80960" y="250545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 de Trabalhos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680960" y="281635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C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· BullMQ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394960" y="3364992"/>
            <a:ext cx="228600" cy="320040"/>
          </a:xfrm>
          <a:prstGeom prst="downArrow">
            <a:avLst/>
          </a:prstGeom>
          <a:solidFill>
            <a:srgbClr val="E8590C"/>
          </a:solidFill>
          <a:ln/>
        </p:spPr>
      </p:sp>
      <p:sp>
        <p:nvSpPr>
          <p:cNvPr id="17" name="Shape 15"/>
          <p:cNvSpPr/>
          <p:nvPr/>
        </p:nvSpPr>
        <p:spPr>
          <a:xfrm>
            <a:off x="8869680" y="3364992"/>
            <a:ext cx="228600" cy="320040"/>
          </a:xfrm>
          <a:prstGeom prst="downArrow">
            <a:avLst/>
          </a:prstGeom>
          <a:solidFill>
            <a:srgbClr val="E8590C"/>
          </a:solidFill>
          <a:ln/>
        </p:spPr>
      </p:sp>
      <p:sp>
        <p:nvSpPr>
          <p:cNvPr id="18" name="Shape 16"/>
          <p:cNvSpPr/>
          <p:nvPr/>
        </p:nvSpPr>
        <p:spPr>
          <a:xfrm>
            <a:off x="4069080" y="3767328"/>
            <a:ext cx="2926080" cy="868680"/>
          </a:xfrm>
          <a:prstGeom prst="roundRect">
            <a:avLst>
              <a:gd name="adj" fmla="val 6316"/>
            </a:avLst>
          </a:prstGeom>
          <a:solidFill>
            <a:srgbClr val="F4F4F2"/>
          </a:solidFill>
          <a:ln w="12700">
            <a:solidFill>
              <a:srgbClr val="DEDE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06240" y="389534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de Captura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206240" y="42062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5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oficial · got-scraping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543800" y="3767328"/>
            <a:ext cx="2926080" cy="868680"/>
          </a:xfrm>
          <a:prstGeom prst="roundRect">
            <a:avLst>
              <a:gd name="adj" fmla="val 6316"/>
            </a:avLst>
          </a:prstGeom>
          <a:solidFill>
            <a:srgbClr val="F4F4F2"/>
          </a:solidFill>
          <a:ln w="12700">
            <a:solidFill>
              <a:srgbClr val="DEDE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0" y="389534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de Disparo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680960" y="42062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5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Formatação · spintax · delay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394960" y="4754880"/>
            <a:ext cx="228600" cy="320040"/>
          </a:xfrm>
          <a:prstGeom prst="downArrow">
            <a:avLst/>
          </a:prstGeom>
          <a:solidFill>
            <a:srgbClr val="E8590C"/>
          </a:solidFill>
          <a:ln/>
        </p:spPr>
      </p:sp>
      <p:sp>
        <p:nvSpPr>
          <p:cNvPr id="25" name="Shape 23"/>
          <p:cNvSpPr/>
          <p:nvPr/>
        </p:nvSpPr>
        <p:spPr>
          <a:xfrm>
            <a:off x="8869680" y="4754880"/>
            <a:ext cx="228600" cy="320040"/>
          </a:xfrm>
          <a:prstGeom prst="downArrow">
            <a:avLst/>
          </a:prstGeom>
          <a:solidFill>
            <a:srgbClr val="E8590C"/>
          </a:solidFill>
          <a:ln/>
        </p:spPr>
      </p:sp>
      <p:sp>
        <p:nvSpPr>
          <p:cNvPr id="26" name="Shape 24"/>
          <p:cNvSpPr/>
          <p:nvPr/>
        </p:nvSpPr>
        <p:spPr>
          <a:xfrm>
            <a:off x="4069080" y="5157216"/>
            <a:ext cx="2926080" cy="868680"/>
          </a:xfrm>
          <a:prstGeom prst="roundRect">
            <a:avLst>
              <a:gd name="adj" fmla="val 6316"/>
            </a:avLst>
          </a:prstGeom>
          <a:solidFill>
            <a:srgbClr val="F4F4F2"/>
          </a:solidFill>
          <a:ln w="12700">
            <a:solidFill>
              <a:srgbClr val="DEDE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06240" y="528523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206240" y="559612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5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Shopee · ML · Amazon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543800" y="5157216"/>
            <a:ext cx="2926080" cy="868680"/>
          </a:xfrm>
          <a:prstGeom prst="roundRect">
            <a:avLst>
              <a:gd name="adj" fmla="val 6316"/>
            </a:avLst>
          </a:prstGeom>
          <a:solidFill>
            <a:srgbClr val="F4F4F2"/>
          </a:solidFill>
          <a:ln w="12700">
            <a:solidFill>
              <a:srgbClr val="DEDED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80960" y="528523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Canais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7680960" y="559612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5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WAHA · Telegram Bot API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40080" y="3767328"/>
            <a:ext cx="2926080" cy="2258568"/>
          </a:xfrm>
          <a:prstGeom prst="roundRect">
            <a:avLst>
              <a:gd name="adj" fmla="val 2429"/>
            </a:avLst>
          </a:prstGeom>
          <a:solidFill>
            <a:srgbClr val="F4F4F2"/>
          </a:solidFill>
          <a:ln w="12700">
            <a:solidFill>
              <a:srgbClr val="DEDED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7240" y="39319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Persistência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777240" y="424281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5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Prisma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77240" y="470916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55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Usuários e tenants</a:t>
            </a:r>
            <a:endParaRPr lang="en-US" sz="10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55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Credenciais cifradas</a:t>
            </a:r>
            <a:endParaRPr lang="en-US" sz="10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55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de preço</a:t>
            </a:r>
            <a:endParaRPr lang="en-US" sz="10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55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e filtros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TECNOLÓGICA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escolhas por camada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536192"/>
            <a:ext cx="103628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5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Prioridade em resiliência, baixo consumo de hardware e facilidade de escala horizontal.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10911535" cy="475488"/>
          </a:xfrm>
          <a:prstGeom prst="roundRect">
            <a:avLst>
              <a:gd name="adj" fmla="val 15385"/>
            </a:avLst>
          </a:prstGeom>
          <a:solidFill>
            <a:srgbClr val="F4F4F2"/>
          </a:solidFill>
          <a:ln/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24028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788920" y="2240280"/>
            <a:ext cx="84426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/ Next.js · TypeScript · Tailwind · WebSockets para o feed em tempo real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807208"/>
            <a:ext cx="10911535" cy="475488"/>
          </a:xfrm>
          <a:prstGeom prst="roundRect">
            <a:avLst>
              <a:gd name="adj" fmla="val 15385"/>
            </a:avLst>
          </a:prstGeom>
          <a:solidFill>
            <a:srgbClr val="F4F4F2"/>
          </a:solidFill>
          <a:ln/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60120" y="2807208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788920" y="2807208"/>
            <a:ext cx="84426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LTS · Fastify · JWT com multi-tenant e RBAC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374136"/>
            <a:ext cx="10911535" cy="475488"/>
          </a:xfrm>
          <a:prstGeom prst="roundRect">
            <a:avLst>
              <a:gd name="adj" fmla="val 15385"/>
            </a:avLst>
          </a:prstGeom>
          <a:solidFill>
            <a:srgbClr val="F4F4F2"/>
          </a:solidFill>
          <a:ln/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60120" y="3374136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788920" y="3374136"/>
            <a:ext cx="84426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· BullMQ com backoff exponencial e rate limit por domínio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941064"/>
            <a:ext cx="10911535" cy="475488"/>
          </a:xfrm>
          <a:prstGeom prst="roundRect">
            <a:avLst>
              <a:gd name="adj" fmla="val 15385"/>
            </a:avLst>
          </a:prstGeom>
          <a:solidFill>
            <a:srgbClr val="F4F4F2"/>
          </a:solidFill>
          <a:ln/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60120" y="3941064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788920" y="3941064"/>
            <a:ext cx="84426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1: APIs oficiais de afiliados · Camada 2: got-scraping · Camada 3: Playwright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4507992"/>
            <a:ext cx="10911535" cy="475488"/>
          </a:xfrm>
          <a:prstGeom prst="roundRect">
            <a:avLst>
              <a:gd name="adj" fmla="val 15385"/>
            </a:avLst>
          </a:prstGeom>
          <a:solidFill>
            <a:srgbClr val="F4F4F2"/>
          </a:solidFill>
          <a:ln/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60120" y="450799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Mensageria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2788920" y="4507992"/>
            <a:ext cx="84426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WAHA em contêiner isolado (engine NOWEB) · Telegram Bot API oficial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5074920"/>
            <a:ext cx="10911535" cy="475488"/>
          </a:xfrm>
          <a:prstGeom prst="roundRect">
            <a:avLst>
              <a:gd name="adj" fmla="val 15385"/>
            </a:avLst>
          </a:prstGeom>
          <a:solidFill>
            <a:srgbClr val="F4F4F2"/>
          </a:solidFill>
          <a:ln/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60120" y="507492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2788920" y="5074920"/>
            <a:ext cx="84426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· Prisma ORM · credenciais cifradas em repouso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0080" y="5641848"/>
            <a:ext cx="10911535" cy="475488"/>
          </a:xfrm>
          <a:prstGeom prst="roundRect">
            <a:avLst>
              <a:gd name="adj" fmla="val 15385"/>
            </a:avLst>
          </a:prstGeom>
          <a:solidFill>
            <a:srgbClr val="F4F4F2"/>
          </a:solidFill>
          <a:ln/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60120" y="5641848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2788920" y="5641848"/>
            <a:ext cx="84426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· VPS Linux · Caddy com SSL automático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40080" y="62636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de licença zero: desde a versão 2026.6.1 o WAHA liberou na imagem pública todas as features que exigiam o plano Plus. Multi-sessão sem assinatura.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 DE EXECUÇÃO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Cinco escolhas que definem o projeto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536192"/>
            <a:ext cx="103628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5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Ajustes ao plano original, motivados por restrições externas que descobrimos na pesquisa técnica.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10911535" cy="676656"/>
          </a:xfrm>
          <a:prstGeom prst="roundRect">
            <a:avLst>
              <a:gd name="adj" fmla="val 10811"/>
            </a:avLst>
          </a:prstGeom>
          <a:solidFill>
            <a:srgbClr val="F4F4F2"/>
          </a:solidFill>
          <a:ln/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386584"/>
            <a:ext cx="384048" cy="384048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86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554480" y="231343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Shopee e Mercado Livre primeiro — Amazon depois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852160" y="2295144"/>
            <a:ext cx="53336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PA-API só libera acesso após 3 vendas qualificadas, e revoga se não houver venda via API a cada 30 dias. Amazon não pode ser a primeira integração.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3026664"/>
            <a:ext cx="10911535" cy="676656"/>
          </a:xfrm>
          <a:prstGeom prst="roundRect">
            <a:avLst>
              <a:gd name="adj" fmla="val 10811"/>
            </a:avLst>
          </a:prstGeom>
          <a:solidFill>
            <a:srgbClr val="F4F4F2"/>
          </a:solidFill>
          <a:ln/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14400" y="3172968"/>
            <a:ext cx="384048" cy="384048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172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554480" y="309981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antes de WhatsApp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852160" y="3081528"/>
            <a:ext cx="53336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oficial, gratuita e sem risco de ban. Valida captura, afiliação, formatação e disparo sem o componente mais frágil da stack.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3813048"/>
            <a:ext cx="10911535" cy="676656"/>
          </a:xfrm>
          <a:prstGeom prst="roundRect">
            <a:avLst>
              <a:gd name="adj" fmla="val 10811"/>
            </a:avLst>
          </a:prstGeom>
          <a:solidFill>
            <a:srgbClr val="F4F4F2"/>
          </a:solidFill>
          <a:ln/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14400" y="3959352"/>
            <a:ext cx="384048" cy="384048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959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554480" y="38862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oficial primeiro, scraping como exceção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852160" y="3867912"/>
            <a:ext cx="53336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se precisamos de proxies residenciais e Playwright já na v1. Um spike de 2 dias resolve e pode eliminar o maior custo de manutenção.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599432"/>
            <a:ext cx="10911535" cy="676656"/>
          </a:xfrm>
          <a:prstGeom prst="roundRect">
            <a:avLst>
              <a:gd name="adj" fmla="val 10811"/>
            </a:avLst>
          </a:prstGeom>
          <a:solidFill>
            <a:srgbClr val="F4F4F2"/>
          </a:solidFill>
          <a:ln/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14400" y="4745736"/>
            <a:ext cx="384048" cy="384048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4745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554480" y="467258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LTS e Fastify, não Bun e Express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852160" y="4654296"/>
            <a:ext cx="53336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gargalo é rede externa e rate limit, não runtime. Node dá ecossistema previsível para Prisma e Playwright; Fastify traz validação por schema.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5385816"/>
            <a:ext cx="10911535" cy="676656"/>
          </a:xfrm>
          <a:prstGeom prst="roundRect">
            <a:avLst>
              <a:gd name="adj" fmla="val 10811"/>
            </a:avLst>
          </a:prstGeom>
          <a:solidFill>
            <a:srgbClr val="F4F4F2"/>
          </a:solidFill>
          <a:ln/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14400" y="5532120"/>
            <a:ext cx="384048" cy="384048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" y="5532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554480" y="545896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brasileiro na camada de captura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852160" y="5440680"/>
            <a:ext cx="53336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nacional trata IP de datacenter estrangeiro como suspeito. VPS ou pool de proxies no Brasil para as requisições de coleta.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FUNDAÇÕES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Quatro coisas que não dá para adicionar depois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536192"/>
            <a:ext cx="103628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5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Baratas agora, caras ou impossíveis de retrofitar quando o produto estiver rodando.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5440680" cy="1508760"/>
          </a:xfrm>
          <a:prstGeom prst="roundRect">
            <a:avLst>
              <a:gd name="adj" fmla="val 4848"/>
            </a:avLst>
          </a:prstGeom>
          <a:solidFill>
            <a:srgbClr val="F4F4F2"/>
          </a:solidFill>
          <a:ln/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05840" y="2633472"/>
            <a:ext cx="256032" cy="256032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7" name="Text 5"/>
          <p:cNvSpPr/>
          <p:nvPr/>
        </p:nvSpPr>
        <p:spPr>
          <a:xfrm>
            <a:off x="1463040" y="254203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Multi-tenant no schema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463040" y="2999232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tenant_id em todas as tabelas e escopo obrigatório no Prisma desde a primeira migration. Já teremos dois tenants na fase de validação.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55080" y="2286000"/>
            <a:ext cx="5440680" cy="1508760"/>
          </a:xfrm>
          <a:prstGeom prst="roundRect">
            <a:avLst>
              <a:gd name="adj" fmla="val 4848"/>
            </a:avLst>
          </a:prstGeom>
          <a:solidFill>
            <a:srgbClr val="F4F4F2"/>
          </a:solidFill>
          <a:ln/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720840" y="2633472"/>
            <a:ext cx="256032" cy="256032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11" name="Text 9"/>
          <p:cNvSpPr/>
          <p:nvPr/>
        </p:nvSpPr>
        <p:spPr>
          <a:xfrm>
            <a:off x="7178040" y="254203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Histórico de preço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7178040" y="2999232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de primeira classe gravando cada leitura de preço. Habilita o desconto verificado — e histórico não perdido não se recupera depois.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4069080"/>
            <a:ext cx="5440680" cy="1508760"/>
          </a:xfrm>
          <a:prstGeom prst="roundRect">
            <a:avLst>
              <a:gd name="adj" fmla="val 4848"/>
            </a:avLst>
          </a:prstGeom>
          <a:solidFill>
            <a:srgbClr val="F4F4F2"/>
          </a:solidFill>
          <a:ln/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05840" y="4416552"/>
            <a:ext cx="256032" cy="256032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15" name="Text 13"/>
          <p:cNvSpPr/>
          <p:nvPr/>
        </p:nvSpPr>
        <p:spPr>
          <a:xfrm>
            <a:off x="1463040" y="432511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fila por marketplace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1463040" y="4782312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 isolado por loja. A PA-API permite 1 requisição por segundo; uma fila global faria a Amazon travar Shopee e Mercado Livre.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55080" y="4069080"/>
            <a:ext cx="5440680" cy="1508760"/>
          </a:xfrm>
          <a:prstGeom prst="roundRect">
            <a:avLst>
              <a:gd name="adj" fmla="val 4848"/>
            </a:avLst>
          </a:prstGeom>
          <a:solidFill>
            <a:srgbClr val="F4F4F2"/>
          </a:solidFill>
          <a:ln/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20840" y="4416552"/>
            <a:ext cx="256032" cy="256032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19" name="Text 17"/>
          <p:cNvSpPr/>
          <p:nvPr/>
        </p:nvSpPr>
        <p:spPr>
          <a:xfrm>
            <a:off x="7178040" y="432511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Alerta de worker morto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7178040" y="4782312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Notificação quando um capturador retorna zero ofertas por N ciclos. É a diferença entre descobrir em uma hora e descobrir pelo cliente.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Somam-se a essas: credenciais de afiliado cifradas em repouso e nunca gravadas em log. É dado sensível do cliente e responsabilidade nossa.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 até o lançamento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536192"/>
            <a:ext cx="103628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5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Sequenciado pelas dependências externas, não pela ordem natural das funcionalidades.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10911535" cy="694944"/>
          </a:xfrm>
          <a:prstGeom prst="roundRect">
            <a:avLst>
              <a:gd name="adj" fmla="val 10526"/>
            </a:avLst>
          </a:prstGeom>
          <a:solidFill>
            <a:srgbClr val="F4F4F2"/>
          </a:solidFill>
          <a:ln/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3317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0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960120" y="26243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514600" y="241401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Fundação e spike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0" y="2295144"/>
            <a:ext cx="615665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Docker, Postgres, Redis e esqueleto multi-tenant. Spike das APIs oficiais. Abrir contas de afiliado e iniciar as 3 vendas qualificadas da Amazon.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3044952"/>
            <a:ext cx="10911535" cy="694944"/>
          </a:xfrm>
          <a:prstGeom prst="roundRect">
            <a:avLst>
              <a:gd name="adj" fmla="val 10526"/>
            </a:avLst>
          </a:prstGeom>
          <a:solidFill>
            <a:srgbClr val="F4F4F2"/>
          </a:solidFill>
          <a:ln/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60120" y="313639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60120" y="34290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2–3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14600" y="321868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vertical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29200" y="3099816"/>
            <a:ext cx="615665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loja e um canal, ponta a ponta: captura, histórico de preço, conversão de link, fila e publicação no Telegram.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3849624"/>
            <a:ext cx="10911535" cy="694944"/>
          </a:xfrm>
          <a:prstGeom prst="roundRect">
            <a:avLst>
              <a:gd name="adj" fmla="val 10526"/>
            </a:avLst>
          </a:prstGeom>
          <a:solidFill>
            <a:srgbClr val="F4F4F2"/>
          </a:solidFill>
          <a:ln/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60120" y="394106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960120" y="42336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4–5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514600" y="40233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WhatsApp e curadoria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029200" y="3904488"/>
            <a:ext cx="615665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WAHA com delays e spintax. Painel de curadoria em 1 clique. Segunda loja integrada.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654296"/>
            <a:ext cx="10911535" cy="694944"/>
          </a:xfrm>
          <a:prstGeom prst="roundRect">
            <a:avLst>
              <a:gd name="adj" fmla="val 10526"/>
            </a:avLst>
          </a:prstGeom>
          <a:solidFill>
            <a:srgbClr val="F4F4F2"/>
          </a:solidFill>
          <a:ln/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60120" y="47457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960120" y="503834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6–7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514600" y="482803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Piloto automático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029200" y="4709160"/>
            <a:ext cx="615665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e regras de disparo. Onboarding de credenciais, billing e alpha com a rede da sócia.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5458968"/>
            <a:ext cx="10911535" cy="694944"/>
          </a:xfrm>
          <a:prstGeom prst="roundRect">
            <a:avLst>
              <a:gd name="adj" fmla="val 10526"/>
            </a:avLst>
          </a:prstGeom>
          <a:solidFill>
            <a:srgbClr val="F4F4F2"/>
          </a:solidFill>
          <a:ln/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60120" y="55504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4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60120" y="58430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8+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514600" y="563270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Amazon e lançamento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029200" y="5513832"/>
            <a:ext cx="615665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da PA-API quando o acesso liberar. Abertura de vendas e programa de indicação.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40080" y="6355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3 vendas qualificadas da Amazon começam na Semana 1 e correm em paralelo — é a dependência de maior prazo e a única que não depende de nós.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faz o quê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536192"/>
            <a:ext cx="103628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5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frentes que correm em paralelo, com pontos de encontro semanais.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3611880" cy="2743200"/>
          </a:xfrm>
          <a:prstGeom prst="roundRect">
            <a:avLst>
              <a:gd name="adj" fmla="val 2667"/>
            </a:avLst>
          </a:prstGeom>
          <a:solidFill>
            <a:srgbClr val="F4F4F2"/>
          </a:solidFill>
          <a:ln/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05840" y="2560320"/>
            <a:ext cx="384048" cy="384048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560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31089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e infraestrutura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37947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Sócio técnico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416052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de captura, fila, integração com marketplaces, WAHA, Docker e deploy. Dono das decisões de arquitetura.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26280" y="2286000"/>
            <a:ext cx="3611880" cy="2743200"/>
          </a:xfrm>
          <a:prstGeom prst="roundRect">
            <a:avLst>
              <a:gd name="adj" fmla="val 2667"/>
            </a:avLst>
          </a:prstGeom>
          <a:solidFill>
            <a:srgbClr val="F4F4F2"/>
          </a:solidFill>
          <a:ln/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92040" y="2560320"/>
            <a:ext cx="384048" cy="384048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13" name="Text 11"/>
          <p:cNvSpPr/>
          <p:nvPr/>
        </p:nvSpPr>
        <p:spPr>
          <a:xfrm>
            <a:off x="4892040" y="2560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92040" y="31089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Produto e frontend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92040" y="37947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Emanuel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92040" y="416052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Painel, fluxo de onboarding, regras de negócio, precificação e relação com os marketplaces e gateways.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412480" y="2286000"/>
            <a:ext cx="3611880" cy="2743200"/>
          </a:xfrm>
          <a:prstGeom prst="roundRect">
            <a:avLst>
              <a:gd name="adj" fmla="val 2667"/>
            </a:avLst>
          </a:prstGeom>
          <a:solidFill>
            <a:srgbClr val="F4F4F2"/>
          </a:solidFill>
          <a:ln/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778240" y="2560320"/>
            <a:ext cx="384048" cy="384048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19" name="Text 17"/>
          <p:cNvSpPr/>
          <p:nvPr/>
        </p:nvSpPr>
        <p:spPr>
          <a:xfrm>
            <a:off x="8778240" y="2560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778240" y="31089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e operação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778240" y="37947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Sócia da rede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778240" y="416052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real desde a Fase 1, feedback semanal estruturado e medição de comissão antes e depois da ferramenta.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5303520"/>
            <a:ext cx="10911535" cy="868680"/>
          </a:xfrm>
          <a:prstGeom prst="roundRect">
            <a:avLst>
              <a:gd name="adj" fmla="val 8421"/>
            </a:avLst>
          </a:prstGeom>
          <a:solidFill>
            <a:srgbClr val="1A1A1E"/>
          </a:solidFill>
          <a:ln/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051560" y="5303520"/>
            <a:ext cx="100885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Pendência a resolver antes da Semana 1: formalizar por escrito a participação de cada sócio e a contrapartida da validação.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pode dar errado, e o que fazemos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536192"/>
            <a:ext cx="103628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5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cinco riscos com maior impacto no cronograma ou na operação do cliente.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10911535" cy="676656"/>
          </a:xfrm>
          <a:prstGeom prst="roundRect">
            <a:avLst>
              <a:gd name="adj" fmla="val 10811"/>
            </a:avLst>
          </a:prstGeom>
          <a:solidFill>
            <a:srgbClr val="F4F4F2"/>
          </a:solidFill>
          <a:ln/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450592"/>
            <a:ext cx="256032" cy="256032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7" name="Text 5"/>
          <p:cNvSpPr/>
          <p:nvPr/>
        </p:nvSpPr>
        <p:spPr>
          <a:xfrm>
            <a:off x="1417320" y="2240280"/>
            <a:ext cx="4206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Banimento de número no WhatsApp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852160" y="2240280"/>
            <a:ext cx="533369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Canais e Comunidades como padrão da interface, delays de 30 a 90s, spintax e simulação de digitação.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3026664"/>
            <a:ext cx="10911535" cy="676656"/>
          </a:xfrm>
          <a:prstGeom prst="roundRect">
            <a:avLst>
              <a:gd name="adj" fmla="val 10811"/>
            </a:avLst>
          </a:prstGeom>
          <a:solidFill>
            <a:srgbClr val="F4F4F2"/>
          </a:solidFill>
          <a:ln/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60120" y="3236976"/>
            <a:ext cx="256032" cy="256032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11" name="Text 9"/>
          <p:cNvSpPr/>
          <p:nvPr/>
        </p:nvSpPr>
        <p:spPr>
          <a:xfrm>
            <a:off x="1417320" y="3026664"/>
            <a:ext cx="4206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Scraper quebra sem aviso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852160" y="3026664"/>
            <a:ext cx="533369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oficial sempre que existir; alerta automático de worker com captura zerada.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3813048"/>
            <a:ext cx="10911535" cy="676656"/>
          </a:xfrm>
          <a:prstGeom prst="roundRect">
            <a:avLst>
              <a:gd name="adj" fmla="val 10811"/>
            </a:avLst>
          </a:prstGeom>
          <a:solidFill>
            <a:srgbClr val="F4F4F2"/>
          </a:solidFill>
          <a:ln/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60120" y="4023360"/>
            <a:ext cx="256032" cy="256032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15" name="Text 13"/>
          <p:cNvSpPr/>
          <p:nvPr/>
        </p:nvSpPr>
        <p:spPr>
          <a:xfrm>
            <a:off x="1417320" y="3813048"/>
            <a:ext cx="4206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à PA-API revogado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852160" y="3813048"/>
            <a:ext cx="533369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Manter vendas qualificadas via link de API; nunca depender de um único marketplace.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4599432"/>
            <a:ext cx="10911535" cy="676656"/>
          </a:xfrm>
          <a:prstGeom prst="roundRect">
            <a:avLst>
              <a:gd name="adj" fmla="val 10811"/>
            </a:avLst>
          </a:prstGeom>
          <a:solidFill>
            <a:srgbClr val="F4F4F2"/>
          </a:solidFill>
          <a:ln/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60120" y="4809744"/>
            <a:ext cx="256032" cy="256032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19" name="Text 17"/>
          <p:cNvSpPr/>
          <p:nvPr/>
        </p:nvSpPr>
        <p:spPr>
          <a:xfrm>
            <a:off x="1417320" y="4599432"/>
            <a:ext cx="4206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Bloqueio de IP pelo e-commerce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852160" y="4599432"/>
            <a:ext cx="533369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brasileiro, rotação de headers e pool de proxies residenciais na camada de captura.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5385816"/>
            <a:ext cx="10911535" cy="676656"/>
          </a:xfrm>
          <a:prstGeom prst="roundRect">
            <a:avLst>
              <a:gd name="adj" fmla="val 10811"/>
            </a:avLst>
          </a:prstGeom>
          <a:solidFill>
            <a:srgbClr val="F4F4F2"/>
          </a:solidFill>
          <a:ln/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60120" y="5596128"/>
            <a:ext cx="256032" cy="256032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23" name="Text 21"/>
          <p:cNvSpPr/>
          <p:nvPr/>
        </p:nvSpPr>
        <p:spPr>
          <a:xfrm>
            <a:off x="1417320" y="5385816"/>
            <a:ext cx="4206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leigo não configura as chaves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852160" y="5385816"/>
            <a:ext cx="533369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Wizard guiado por loja, começando pela Shopee, que tem o cadastro mais simples.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COMERCIAL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Planos e precificação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536192"/>
            <a:ext cx="103628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5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Alinhado à faixa que o mercado já pratica, com o limite atrelado ao que de fato nos custa.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3611880" cy="2880360"/>
          </a:xfrm>
          <a:prstGeom prst="roundRect">
            <a:avLst>
              <a:gd name="adj" fmla="val 2540"/>
            </a:avLst>
          </a:prstGeom>
          <a:solidFill>
            <a:srgbClr val="F4F4F2"/>
          </a:solidFill>
          <a:ln/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254203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28803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R$ 57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005840" y="35478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mês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005840" y="393192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conexão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Curadoria manual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as lojas liberadas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de disparo limitado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26280" y="2286000"/>
            <a:ext cx="3611880" cy="2880360"/>
          </a:xfrm>
          <a:prstGeom prst="roundRect">
            <a:avLst>
              <a:gd name="adj" fmla="val 2540"/>
            </a:avLst>
          </a:prstGeom>
          <a:solidFill>
            <a:srgbClr val="1A1A1E"/>
          </a:solidFill>
          <a:ln/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92040" y="254203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92040" y="28803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R$ 97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4892040" y="35478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C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mês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892040" y="393192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4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 automático 24/7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4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avançados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4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Canais ilimitados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4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 prioritário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12480" y="2286000"/>
            <a:ext cx="3611880" cy="2880360"/>
          </a:xfrm>
          <a:prstGeom prst="roundRect">
            <a:avLst>
              <a:gd name="adj" fmla="val 2540"/>
            </a:avLst>
          </a:prstGeom>
          <a:solidFill>
            <a:srgbClr val="F4F4F2"/>
          </a:solidFill>
          <a:ln/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778240" y="254203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Agência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778240" y="28803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R$ 197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8778240" y="35478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mês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778240" y="393192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Múltiplas conexões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Sub-contas por afiliado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Relatórios de conversão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própria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544068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4F4F2"/>
          </a:solidFill>
          <a:ln/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051560" y="5440680"/>
            <a:ext cx="100885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por conexão e volume de disparo, nunca por número de lojas. Nosso custo real é a instância de WhatsApp conectada — é isso que a precificação precisa refletir. Degustação apenas com Telegram, cujo custo é próximo de zero.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14 DIAS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onde começamos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325880" y="22860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Spike técnico das APIs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937760" y="2304288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C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dias para mapear o que Shopee e Mercado Livre entregam de verdade. Define se precisamos de proxies e Playwright na v1.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3337560"/>
            <a:ext cx="384048" cy="384048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337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25880" y="32461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Contas de afiliado abertas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937760" y="3264408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C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Iniciar as 3 vendas qualificadas da Amazon. É a dependência de maior prazo e não depende de código.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4297680"/>
            <a:ext cx="384048" cy="384048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297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25880" y="42062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Sessão de mapeamento com a sócia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937760" y="4224528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C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Reconstruir o fluxo atual dela minuto a minuto. É a especificação do MVP, e já existe pronta.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5257800"/>
            <a:ext cx="384048" cy="384048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5257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25880" y="51663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Acordo societário por escrito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937760" y="5184648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C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Participação de cada um e contrapartida da validação, antes de a primeira linha de código existir.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0080" y="62636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 de progresso ao final da Semana 1, com o resultado do spike em mãos.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Plano de Construção — Plataforma de Automação de Ofertas</dc:title>
  <dc:subject>PptxGenJS Presentation</dc:subject>
  <dc:creator>Emanuel</dc:creator>
  <cp:lastModifiedBy>Emanuel</cp:lastModifiedBy>
  <cp:revision>1</cp:revision>
  <dcterms:created xsi:type="dcterms:W3CDTF">2026-07-29T01:18:26Z</dcterms:created>
  <dcterms:modified xsi:type="dcterms:W3CDTF">2026-07-29T01:18:26Z</dcterms:modified>
</cp:coreProperties>
</file>