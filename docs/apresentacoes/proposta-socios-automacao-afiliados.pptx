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Plano intermediário (R$/mês)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ProAfiliados</c:v>
                  </c:pt>
                  <c:pt idx="1">
                    <c:v>FluxoPromo</c:v>
                  </c:pt>
                  <c:pt idx="2">
                    <c:v>DivulgaNinja</c:v>
                  </c:pt>
                  <c:pt idx="3">
                    <c:v>Shozap</c:v>
                  </c:pt>
                  <c:pt idx="4">
                    <c:v>NOSSO PLANO</c:v>
                  </c:pt>
                  <c:pt idx="5">
                    <c:v>DivulgaLinks</c:v>
                  </c:pt>
                  <c:pt idx="6">
                    <c:v>Hub do Afiliado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97</c:v>
                </c:pt>
                <c:pt idx="2">
                  <c:v>49.9</c:v>
                </c:pt>
                <c:pt idx="3">
                  <c:v>100</c:v>
                </c:pt>
                <c:pt idx="4">
                  <c:v>97</c:v>
                </c:pt>
                <c:pt idx="5">
                  <c:v>129.9</c:v>
                </c:pt>
                <c:pt idx="6">
                  <c:v>297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0"/>
        </c:scaling>
        <c:delete val="0"/>
        <c:axPos val="l"/>
        <c:majorGridlines>
          <c:spPr>
            <a:ln w="12700" cap="flat">
              <a:solidFill>
                <a:srgbClr val="EA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objetivo desta conversa não é decidir se o mercado é bom — é decidir onde colocar nosso tempo nos próximos 90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números que resumem a descoberta. O terceiro é o mais importante: nosso instinto de preço estava certo, o que confirma que lemos bem o mercado — e também que não há espaço para entrar por 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 começar pela boa notícia: nossa leitura de mercado estava certa. A demanda existe e cresce. O que não existe é o vazio competitivo que assumimos.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página que muda a conversa. Não é que exista algo parecido — existe algo que faz tudo que planejamos, mais Instagram, landing pages e loja. E está no ar há tempo suficiente para ter programa de afiliados próprio.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destacar o rodapé: ninguém conseguiu tornar o WhatsApp barato. Isso confirma nossa hipótese de que o custo real é a instância conectada, não o número de lojas.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deixa visual o que a tabela dizia: nosso preço planejado cai exatamente na região mais concorrida da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uma lista de coisas difíceis. É uma lista de coisas que o mercado já considera obrigatórias — o piso de entrada, não a diferenciação.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três lacunas são o que observaremos nos 90 dias de operação. Se alguma delas doer de verdade, aí temos matéria-prima para um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recomendação não é abandonar o produto. É inverter a ordem: operar primeiro, construir depois — com informação em vez de suposição.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critérios existem para tirar a decisão do campo da vontade e colocar no campo da evidência. Revisitamos no dia 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A mensagem central: isto não é recuo, é sequenciamento. Construímos depois de saber o que construir.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ESTRATÉGICA  ·  JULHO DE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Automação de ofertas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afiliados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069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investir os próximos 90 dias — e por que não começamos construindo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interno para discussão entre sócios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mostrou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dos players ativos no nicho de automação de ofertas para afiliados no Brasil.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514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60120" y="34015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 ativos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Shozap, FluxoPromo, DivulgaLinks,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do Afiliado, Achadinhos Pro,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ProAfiliados e outros cinco.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228600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514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846320" y="34015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preço de entrada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FluxoPromo e ProAfiliados operam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camada gratuita funcional.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topo do funil já está tomado.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0" y="228600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32520" y="2514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R$ 97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732520" y="34015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que planejamos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3252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o plano intermediário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FluxoPromo. Chegamos ao preço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 — e ele já está ocupado.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8064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sites oficiais dos fabricantes e comparativo público do nicho (2026).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 NOTÍCIA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demanda é real e está crescendo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identificamos existe. Tanto que atraiu onze concorrentes.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50592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milhões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023360" y="2340864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afiliados no programa da Shopee no Brasil, com mais de 1 milhão de novos entrantes só em 2024.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685032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milhões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023360" y="3575304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participantes no marketing de afiliados no Brasil, com crescimento de 8% em 2025.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919472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a 6 horas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023360" y="4809744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dia é o tempo que um afiliado gasta garimpando ofertas manualmente, segundo os próprios concorrentes.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549640" y="2286000"/>
            <a:ext cx="2971800" cy="3429000"/>
          </a:xfrm>
          <a:prstGeom prst="roundRect">
            <a:avLst>
              <a:gd name="adj" fmla="val 2462"/>
            </a:avLst>
          </a:prstGeom>
          <a:solidFill>
            <a:srgbClr val="1A1A1E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6968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0" y="30632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oportunidade que enxergamos é legítima.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não está na leitura do mercado — está em supor que ele estava vazio.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muda de "dá para fazer?" para "por que trocariam o que já usam?".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NOTÍCIA DIFÍCIL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produto do nosso plano já existe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Shozap entrega hoje, na faixa de R$50 a R$150/mês, um superconjunto do nosso MVP.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440680" cy="658368"/>
          </a:xfrm>
          <a:prstGeom prst="roundRect">
            <a:avLst>
              <a:gd name="adj" fmla="val 111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05456"/>
            <a:ext cx="219456" cy="21945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298448" y="22860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automático, manual e espelhado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2286000"/>
            <a:ext cx="5440680" cy="658368"/>
          </a:xfrm>
          <a:prstGeom prst="roundRect">
            <a:avLst>
              <a:gd name="adj" fmla="val 111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11112" y="2505456"/>
            <a:ext cx="219456" cy="21945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0" name="Text 8"/>
          <p:cNvSpPr/>
          <p:nvPr/>
        </p:nvSpPr>
        <p:spPr>
          <a:xfrm>
            <a:off x="7013448" y="22860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texto e imagem no anúncio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72384"/>
            <a:ext cx="5440680" cy="658368"/>
          </a:xfrm>
          <a:prstGeom prst="roundRect">
            <a:avLst>
              <a:gd name="adj" fmla="val 111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291840"/>
            <a:ext cx="219456" cy="21945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3" name="Text 11"/>
          <p:cNvSpPr/>
          <p:nvPr/>
        </p:nvSpPr>
        <p:spPr>
          <a:xfrm>
            <a:off x="1298448" y="30723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instâncias com rotação anti-ban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3072384"/>
            <a:ext cx="5440680" cy="658368"/>
          </a:xfrm>
          <a:prstGeom prst="roundRect">
            <a:avLst>
              <a:gd name="adj" fmla="val 111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11112" y="3291840"/>
            <a:ext cx="219456" cy="21945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6" name="Text 14"/>
          <p:cNvSpPr/>
          <p:nvPr/>
        </p:nvSpPr>
        <p:spPr>
          <a:xfrm>
            <a:off x="7013448" y="30723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de Chrome — produto em 1 clique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858768"/>
            <a:ext cx="5440680" cy="658368"/>
          </a:xfrm>
          <a:prstGeom prst="roundRect">
            <a:avLst>
              <a:gd name="adj" fmla="val 111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" y="4078224"/>
            <a:ext cx="219456" cy="21945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9" name="Text 17"/>
          <p:cNvSpPr/>
          <p:nvPr/>
        </p:nvSpPr>
        <p:spPr>
          <a:xfrm>
            <a:off x="1298448" y="385876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marketplaces integrados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3858768"/>
            <a:ext cx="5440680" cy="658368"/>
          </a:xfrm>
          <a:prstGeom prst="roundRect">
            <a:avLst>
              <a:gd name="adj" fmla="val 111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11112" y="4078224"/>
            <a:ext cx="219456" cy="21945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2" name="Text 20"/>
          <p:cNvSpPr/>
          <p:nvPr/>
        </p:nvSpPr>
        <p:spPr>
          <a:xfrm>
            <a:off x="7013448" y="385876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Telegram e Instagram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645152"/>
            <a:ext cx="5440680" cy="658368"/>
          </a:xfrm>
          <a:prstGeom prst="roundRect">
            <a:avLst>
              <a:gd name="adj" fmla="val 111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112" y="4864608"/>
            <a:ext cx="219456" cy="21945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5" name="Text 23"/>
          <p:cNvSpPr/>
          <p:nvPr/>
        </p:nvSpPr>
        <p:spPr>
          <a:xfrm>
            <a:off x="1298448" y="464515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Bio, landing pages e loja própria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4645152"/>
            <a:ext cx="5440680" cy="658368"/>
          </a:xfrm>
          <a:prstGeom prst="roundRect">
            <a:avLst>
              <a:gd name="adj" fmla="val 111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11112" y="4864608"/>
            <a:ext cx="219456" cy="21945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8" name="Text 26"/>
          <p:cNvSpPr/>
          <p:nvPr/>
        </p:nvSpPr>
        <p:spPr>
          <a:xfrm>
            <a:off x="7013448" y="464515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afiliados com 30% recorrente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7607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esses itens estavam no escopo core do nosso Plano Estratégico.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COMPETITIVO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já está no mercado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players com preço público. Outros cinco operam sob consulta.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1153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566160"/>
                <a:gridCol w="1554480"/>
                <a:gridCol w="2286000"/>
                <a:gridCol w="13990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mensal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 grátis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Shozap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· Telegram · Instagram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R$ 50 a 150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 grátis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FluxoPromo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Telegram · WhatsApp (add-on)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R$ 37 / 97 / 197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— 20 ofertas/dia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DivulgaLinks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· Telegram · Instagram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R$ 69,90 a 169,90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7 a 14 dias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do Afiliado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Telegram · WhatsApp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+ rede Awin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R$ 97 / 297 / 497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Garantia 7 dias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DivulgaNinja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· Telegram · Instagram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partir de R$ 49,90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ProAfiliados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· Telegram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Grátis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— plano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Achadinhos Pro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divulgado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7 dias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WhatsApp é cobrado à parte por quase todos: R$ 100/mês por sessão no Hub do Afiliado, R$ 149,90 de add-on no FluxoPromo.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DE PREÇO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nosso plano se encaixaria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do plano intermediário de cada ferramenta. O nosso cairia no meio da faixa mais disputada.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331720"/>
          <a:ext cx="72237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2331720"/>
            <a:ext cx="3410712" cy="3429000"/>
          </a:xfrm>
          <a:prstGeom prst="roundRect">
            <a:avLst>
              <a:gd name="adj" fmla="val 2145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58200" y="26517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alavanca de preço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58200" y="315468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dá para entrar por baixo: o piso do mercado é zero.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dá para entrar por cima: não temos marca, base instalada nem prova social para sustentar prêmio.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 competir por produto — contra empresas com anos de vantagem e times dedicados.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VIROU PADRÃO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Nosso escopo core virou commodity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presentes em três ou mais concorrentes. Nenhum deles é mais um diferencial.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59736"/>
            <a:ext cx="237744" cy="237744"/>
          </a:xfrm>
          <a:prstGeom prst="ellipse">
            <a:avLst/>
          </a:prstGeom>
          <a:solidFill>
            <a:srgbClr val="B4B4A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multi-marketplace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26280" y="2459736"/>
            <a:ext cx="237744" cy="237744"/>
          </a:xfrm>
          <a:prstGeom prst="ellipse">
            <a:avLst/>
          </a:prstGeom>
          <a:solidFill>
            <a:srgbClr val="B4B4AE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de afiliado do próprio cliente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0" y="2459736"/>
            <a:ext cx="237744" cy="237744"/>
          </a:xfrm>
          <a:prstGeom prst="ellipse">
            <a:avLst/>
          </a:prstGeom>
          <a:solidFill>
            <a:srgbClr val="B4B4AE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em WhatsApp e Telegram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09544"/>
            <a:ext cx="237744" cy="237744"/>
          </a:xfrm>
          <a:prstGeom prst="ellipse">
            <a:avLst/>
          </a:prstGeom>
          <a:solidFill>
            <a:srgbClr val="B4B4A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0815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Anti-duplicação de ofertas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26280" y="3209544"/>
            <a:ext cx="237744" cy="237744"/>
          </a:xfrm>
          <a:prstGeom prst="ellipse">
            <a:avLst/>
          </a:prstGeom>
          <a:solidFill>
            <a:srgbClr val="B4B4AE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30815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aleatórios e anti-ban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0" y="3209544"/>
            <a:ext cx="237744" cy="237744"/>
          </a:xfrm>
          <a:prstGeom prst="ellipse">
            <a:avLst/>
          </a:prstGeom>
          <a:solidFill>
            <a:srgbClr val="B4B4AE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30815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Encurtador com rastreio de cliques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959352"/>
            <a:ext cx="237744" cy="237744"/>
          </a:xfrm>
          <a:prstGeom prst="ellipse">
            <a:avLst/>
          </a:prstGeom>
          <a:solidFill>
            <a:srgbClr val="B4B4A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8313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e horários otimizados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26280" y="3959352"/>
            <a:ext cx="237744" cy="237744"/>
          </a:xfrm>
          <a:prstGeom prst="ellipse">
            <a:avLst/>
          </a:prstGeom>
          <a:solidFill>
            <a:srgbClr val="B4B4AE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8313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de mensagem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412480" y="3959352"/>
            <a:ext cx="237744" cy="237744"/>
          </a:xfrm>
          <a:prstGeom prst="ellipse">
            <a:avLst/>
          </a:prstGeom>
          <a:solidFill>
            <a:srgbClr val="B4B4AE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0" y="38313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cliques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709160"/>
            <a:ext cx="237744" cy="237744"/>
          </a:xfrm>
          <a:prstGeom prst="ellipse">
            <a:avLst/>
          </a:prstGeom>
          <a:solidFill>
            <a:srgbClr val="B4B4AE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5811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copy com IA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26280" y="4709160"/>
            <a:ext cx="237744" cy="237744"/>
          </a:xfrm>
          <a:prstGeom prst="ellipse">
            <a:avLst/>
          </a:prstGeom>
          <a:solidFill>
            <a:srgbClr val="B4B4AE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45811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afiliados interno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412480" y="4709160"/>
            <a:ext cx="237744" cy="237744"/>
          </a:xfrm>
          <a:prstGeom prst="ellipse">
            <a:avLst/>
          </a:prstGeom>
          <a:solidFill>
            <a:srgbClr val="B4B4AE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0" y="45811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Espelhamento de grupos de terceiros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3492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1A1A1E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05840" y="534924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Praticamente todo o escopo core do nosso Plano Estratégico está nesta lista.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ainda existe espaço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brechas legítimas que a pesquisa encontrou. Nenhuma justifica, sozinha, uma plataforma inteira.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60604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Ninguém valida o desconto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8862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capturam ofertas; nenhum menciona histórico de preço por SKU. Quem anuncia desconto falso queima a credibilidade do canal.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228600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260604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31546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Ofertas sempre repetidas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38862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opera repostando os mesmos grupos-fonte. O público vê a oferta repetida em cinco canais e para de clicar.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0" y="228600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778240" y="260604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0" y="31546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Agência não tem produto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78240" y="38862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oferta clara de multi-tenancy ou white-label para quem gere a operação de vários afiliados terceiros.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Registramos por honestidade — e para observar durante a operação. Uma lacuna vira produto quando dói todo dia, não quando aparece numa pesquisa.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plano dos próximos 90 dias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 a ordem: primeiro operar, depois decidir se vale construir.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911535" cy="109728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487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1 a 30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0" y="2450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Assinar e usar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743200" y="2852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duas ou três ferramentas e rodá-las nas operações reais. Investimento abaixo de R$ 400. Aprendizado imediato e comissão entrando.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10911535" cy="109728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767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30 a 90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0" y="3730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a operação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43200" y="41330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Concentrar o esforço técnico em audiência, canais, nicho e conversão. É aqui que está a receita — e o conhecimento que hoje nos falta.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0911535" cy="109728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5047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5394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90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0" y="50109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Decidir com dados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743200" y="54132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90 dias de operação real, teremos a lista concreta do que falta nas ferramentas. Se for grande e específica, existe produto.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lateral: esses SaaS pagam 30% recorrente de indicação. Nossa rede já existe — é caixa sem uma linha de código.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DECISÃO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precisa ser verdade para construirmos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condições para revisitar no dia 90. Se três ou mais falharem, seguimos operando.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04872"/>
            <a:ext cx="384048" cy="384048"/>
          </a:xfrm>
          <a:prstGeom prst="ellipse">
            <a:avLst/>
          </a:prstGeom>
          <a:solidFill>
            <a:srgbClr val="2A2A3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96313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uma lacuna específica e dolorosa, comprovada por uso real — não por suposição.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35808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154680"/>
            <a:ext cx="384048" cy="384048"/>
          </a:xfrm>
          <a:prstGeom prst="ellipse">
            <a:avLst/>
          </a:prstGeom>
          <a:solidFill>
            <a:srgbClr val="2A2A3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3035808"/>
            <a:ext cx="96313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Temos canal de distribuição próprio. Os concorrentes vencem com influenciadores e SEO.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904488"/>
            <a:ext cx="384048" cy="384048"/>
          </a:xfrm>
          <a:prstGeom prst="ellipse">
            <a:avLst/>
          </a:prstGeom>
          <a:solidFill>
            <a:srgbClr val="2A2A3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3785616"/>
            <a:ext cx="96313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no time aguenta manutenção de scrapers de forma indefinida, não como projeto.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535424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654296"/>
            <a:ext cx="384048" cy="384048"/>
          </a:xfrm>
          <a:prstGeom prst="ellipse">
            <a:avLst/>
          </a:prstGeom>
          <a:solidFill>
            <a:srgbClr val="2A2A3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4535424"/>
            <a:ext cx="96313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caixa para 12 meses sem receita. Com camada gratuita no mercado, a conversão é lenta.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285232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5404104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404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5285232"/>
            <a:ext cx="96313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Sabemos responder, em uma frase: por que um afiliado trocaria o Shozap pelo nosso?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0807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quinta é a mais dura — e é a que decide as outras quatro.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estamos desistindo do produto.</a:t>
            </a:r>
            <a:endParaRPr lang="en-US" sz="3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Estamos comprando informação</a:t>
            </a:r>
            <a:endParaRPr lang="en-US" sz="3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gastar três meses.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34340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que planejamos já existe e está disponível hoje. Assinar uma delas e concentrar o nosso esforço no que gera comissão nos coloca operando em dias, não em meses. Em 90 dias reavaliamos — com dados que hoje não temos.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5623560"/>
            <a:ext cx="365760" cy="36576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escolher as ferramentas e definir quem opera o quê.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Automação de Ofertas para Afiliados</dc:title>
  <dc:subject>PptxGenJS Presentation</dc:subject>
  <dc:creator>Emanuel</dc:creator>
  <cp:lastModifiedBy>Emanuel</cp:lastModifiedBy>
  <cp:revision>1</cp:revision>
  <dcterms:created xsi:type="dcterms:W3CDTF">2026-07-29T01:11:05Z</dcterms:created>
  <dcterms:modified xsi:type="dcterms:W3CDTF">2026-07-29T01:11:05Z</dcterms:modified>
</cp:coreProperties>
</file>